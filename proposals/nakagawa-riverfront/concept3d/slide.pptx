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1961" cy="7559873"/>
  <p:notesSz cx="7559873" cy="1069196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93582" y="1449884"/>
            <a:ext cx="307777" cy="104775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3" name="Shape 1"/>
          <p:cNvSpPr/>
          <p:nvPr/>
        </p:nvSpPr>
        <p:spPr>
          <a:xfrm>
            <a:off x="6993582" y="1596033"/>
            <a:ext cx="231577" cy="104775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4" name="Shape 2"/>
          <p:cNvSpPr/>
          <p:nvPr/>
        </p:nvSpPr>
        <p:spPr>
          <a:xfrm>
            <a:off x="431899" y="5831830"/>
            <a:ext cx="3031034" cy="454819"/>
          </a:xfrm>
          <a:prstGeom prst="rect">
            <a:avLst/>
          </a:prstGeom>
          <a:solidFill>
            <a:srgbClr val="F2F4F5"/>
          </a:solidFill>
          <a:ln/>
        </p:spPr>
      </p:sp>
      <p:sp>
        <p:nvSpPr>
          <p:cNvPr id="5" name="Shape 3"/>
          <p:cNvSpPr/>
          <p:nvPr/>
        </p:nvSpPr>
        <p:spPr>
          <a:xfrm>
            <a:off x="3678882" y="5831830"/>
            <a:ext cx="3273475" cy="454819"/>
          </a:xfrm>
          <a:prstGeom prst="rect">
            <a:avLst/>
          </a:prstGeom>
          <a:solidFill>
            <a:srgbClr val="F2F4F5"/>
          </a:solidFill>
          <a:ln/>
        </p:spPr>
      </p:sp>
      <p:sp>
        <p:nvSpPr>
          <p:cNvPr id="6" name="Shape 4"/>
          <p:cNvSpPr/>
          <p:nvPr/>
        </p:nvSpPr>
        <p:spPr>
          <a:xfrm>
            <a:off x="7168307" y="1867049"/>
            <a:ext cx="3091755" cy="4419600"/>
          </a:xfrm>
          <a:prstGeom prst="rect">
            <a:avLst/>
          </a:prstGeom>
          <a:solidFill>
            <a:srgbClr val="16181C"/>
          </a:solidFill>
          <a:ln/>
        </p:spPr>
      </p:sp>
      <p:sp>
        <p:nvSpPr>
          <p:cNvPr id="7" name="Shape 5"/>
          <p:cNvSpPr/>
          <p:nvPr/>
        </p:nvSpPr>
        <p:spPr>
          <a:xfrm>
            <a:off x="7330232" y="4866531"/>
            <a:ext cx="2767905" cy="666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/tmp/claude-0/-home-user-kzmymn/fdce6fa0-cabe-5c64-b6f9-669e7809d82e/scratchpad/pptimg2/img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8882" y="2712244"/>
            <a:ext cx="863947" cy="611981"/>
          </a:xfrm>
          <a:prstGeom prst="rect">
            <a:avLst/>
          </a:prstGeom>
        </p:spPr>
      </p:pic>
      <p:pic>
        <p:nvPicPr>
          <p:cNvPr id="9" name="Image 1" descr="/tmp/claude-0/-home-user-kzmymn/fdce6fa0-cabe-5c64-b6f9-669e7809d82e/scratchpad/pptimg2/img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82" y="3492103"/>
            <a:ext cx="863947" cy="611981"/>
          </a:xfrm>
          <a:prstGeom prst="rect">
            <a:avLst/>
          </a:prstGeom>
        </p:spPr>
      </p:pic>
      <p:pic>
        <p:nvPicPr>
          <p:cNvPr id="10" name="Image 2" descr="/tmp/claude-0/-home-user-kzmymn/fdce6fa0-cabe-5c64-b6f9-669e7809d82e/scratchpad/pptimg2/img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882" y="4271963"/>
            <a:ext cx="863947" cy="61198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1899" y="541139"/>
            <a:ext cx="9828163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808887" y="937468"/>
            <a:ext cx="0" cy="785664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31899" y="1876574"/>
            <a:ext cx="3031034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31899" y="2628305"/>
            <a:ext cx="3031034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31899" y="3673822"/>
            <a:ext cx="3031034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31899" y="4719340"/>
            <a:ext cx="3031034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678882" y="1876574"/>
            <a:ext cx="3273475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78882" y="2628305"/>
            <a:ext cx="3273475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78882" y="3408164"/>
            <a:ext cx="3273475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78882" y="4188023"/>
            <a:ext cx="3273475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68307" y="1876574"/>
            <a:ext cx="3091755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30232" y="2714476"/>
            <a:ext cx="2767905" cy="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93375" y="2709714"/>
            <a:ext cx="0" cy="60960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30232" y="3314551"/>
            <a:ext cx="2767905" cy="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34994" y="2709714"/>
            <a:ext cx="0" cy="60960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30232" y="3792885"/>
            <a:ext cx="2767905" cy="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093375" y="3788122"/>
            <a:ext cx="0" cy="60960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30232" y="4392960"/>
            <a:ext cx="2767905" cy="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334994" y="3788122"/>
            <a:ext cx="0" cy="609600"/>
          </a:xfrm>
          <a:prstGeom prst="line">
            <a:avLst/>
          </a:prstGeom>
          <a:noFill/>
          <a:ln w="9525">
            <a:solidFill>
              <a:srgbClr val="4A4F5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330232" y="4871293"/>
            <a:ext cx="276790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093375" y="4866531"/>
            <a:ext cx="0" cy="666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330232" y="5528518"/>
            <a:ext cx="2767905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334994" y="4866531"/>
            <a:ext cx="0" cy="66675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330232" y="5678984"/>
            <a:ext cx="2767905" cy="0"/>
          </a:xfrm>
          <a:prstGeom prst="line">
            <a:avLst/>
          </a:prstGeom>
          <a:noFill/>
          <a:ln w="9525">
            <a:solidFill>
              <a:srgbClr val="44484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31899" y="6399312"/>
            <a:ext cx="9828163" cy="0"/>
          </a:xfrm>
          <a:prstGeom prst="line">
            <a:avLst/>
          </a:prstGeom>
          <a:noFill/>
          <a:ln w="9525">
            <a:solidFill>
              <a:srgbClr val="D3D6D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091636" y="6502301"/>
            <a:ext cx="2168426" cy="0"/>
          </a:xfrm>
          <a:prstGeom prst="line">
            <a:avLst/>
          </a:prstGeom>
          <a:noFill/>
          <a:ln w="9525">
            <a:solidFill>
              <a:srgbClr val="16181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0255300" y="6497538"/>
            <a:ext cx="0" cy="253008"/>
          </a:xfrm>
          <a:prstGeom prst="line">
            <a:avLst/>
          </a:prstGeom>
          <a:noFill/>
          <a:ln w="9525">
            <a:solidFill>
              <a:srgbClr val="16181C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091636" y="6745784"/>
            <a:ext cx="2168426" cy="0"/>
          </a:xfrm>
          <a:prstGeom prst="line">
            <a:avLst/>
          </a:prstGeom>
          <a:noFill/>
          <a:ln w="9525">
            <a:solidFill>
              <a:srgbClr val="16181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096399" y="6497538"/>
            <a:ext cx="0" cy="253008"/>
          </a:xfrm>
          <a:prstGeom prst="line">
            <a:avLst/>
          </a:prstGeom>
          <a:noFill/>
          <a:ln w="9525">
            <a:solidFill>
              <a:srgbClr val="16181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31899" y="6867971"/>
            <a:ext cx="9828163" cy="0"/>
          </a:xfrm>
          <a:prstGeom prst="line">
            <a:avLst/>
          </a:prstGeom>
          <a:noFill/>
          <a:ln w="19050">
            <a:solidFill>
              <a:srgbClr val="16181C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31899" y="323999"/>
            <a:ext cx="26098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b="1" spc="165" kern="0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 実施内容｜1-1 本提案の位置づけとコンセプト</a:t>
            </a:r>
            <a:endParaRPr lang="en-US" sz="750" dirty="0"/>
          </a:p>
        </p:txBody>
      </p:sp>
      <p:sp>
        <p:nvSpPr>
          <p:cNvPr id="42" name="Text 37"/>
          <p:cNvSpPr txBox="1"/>
          <p:nvPr/>
        </p:nvSpPr>
        <p:spPr>
          <a:xfrm>
            <a:off x="10200977" y="323999"/>
            <a:ext cx="608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b="1" spc="165" kern="0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</a:t>
            </a:r>
            <a:endParaRPr lang="en-US" sz="750" dirty="0"/>
          </a:p>
        </p:txBody>
      </p:sp>
      <p:sp>
        <p:nvSpPr>
          <p:cNvPr id="43" name="Text 38"/>
          <p:cNvSpPr txBox="1"/>
          <p:nvPr/>
        </p:nvSpPr>
        <p:spPr>
          <a:xfrm>
            <a:off x="431899" y="712589"/>
            <a:ext cx="6141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spc="210" kern="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CONCEPT</a:t>
            </a:r>
            <a:endParaRPr lang="en-US" sz="700" dirty="0"/>
          </a:p>
        </p:txBody>
      </p:sp>
      <p:sp>
        <p:nvSpPr>
          <p:cNvPr id="44" name="Text 39"/>
          <p:cNvSpPr txBox="1"/>
          <p:nvPr/>
        </p:nvSpPr>
        <p:spPr>
          <a:xfrm>
            <a:off x="431899" y="881807"/>
            <a:ext cx="614139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spc="120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那珂川を、アジアを代表する文化景観に。</a:t>
            </a:r>
            <a:endParaRPr lang="en-US" sz="2400" dirty="0"/>
          </a:p>
        </p:txBody>
      </p:sp>
      <p:sp>
        <p:nvSpPr>
          <p:cNvPr id="45" name="Text 40"/>
          <p:cNvSpPr txBox="1"/>
          <p:nvPr/>
        </p:nvSpPr>
        <p:spPr>
          <a:xfrm>
            <a:off x="431899" y="1349871"/>
            <a:ext cx="614139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84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人が訪れ続ける場所には、渋谷のスクランブル交差点や道頓堀のように、人の営みと遊び心が積み重なった</a:t>
            </a:r>
            <a:pPr algn="l" indent="0" marL="0">
              <a:lnSpc>
                <a:spcPct val="175000"/>
              </a:lnSpc>
              <a:buNone/>
            </a:pPr>
            <a:r>
              <a:rPr lang="en-US" sz="84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「文化景観」</a:t>
            </a:r>
            <a:pPr algn="l" indent="0" marL="0">
              <a:lnSpc>
                <a:spcPct val="175000"/>
              </a:lnSpc>
              <a:buNone/>
            </a:pPr>
            <a:r>
              <a:rPr lang="en-US" sz="84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がある。福岡にはすでに多くの人が訪れ、水辺の整備も進む。そこに</a:t>
            </a:r>
            <a:pPr algn="l" indent="0" marL="0">
              <a:lnSpc>
                <a:spcPct val="175000"/>
              </a:lnSpc>
              <a:buNone/>
            </a:pPr>
            <a:r>
              <a:rPr lang="en-US" sz="84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夜まで留まる「目的」</a:t>
            </a:r>
            <a:pPr algn="l" indent="0" marL="0">
              <a:lnSpc>
                <a:spcPct val="175000"/>
              </a:lnSpc>
              <a:buNone/>
            </a:pPr>
            <a:r>
              <a:rPr lang="en-US" sz="84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を重ねる。</a:t>
            </a:r>
            <a:endParaRPr lang="en-US" sz="840" dirty="0"/>
          </a:p>
        </p:txBody>
      </p:sp>
      <p:sp>
        <p:nvSpPr>
          <p:cNvPr id="46" name="Text 41"/>
          <p:cNvSpPr txBox="1"/>
          <p:nvPr/>
        </p:nvSpPr>
        <p:spPr>
          <a:xfrm>
            <a:off x="6993582" y="937468"/>
            <a:ext cx="33236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spc="128" kern="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THEME</a:t>
            </a:r>
            <a:endParaRPr lang="en-US" sz="640" dirty="0"/>
          </a:p>
        </p:txBody>
      </p:sp>
      <p:sp>
        <p:nvSpPr>
          <p:cNvPr id="47" name="Text 42"/>
          <p:cNvSpPr txBox="1"/>
          <p:nvPr/>
        </p:nvSpPr>
        <p:spPr>
          <a:xfrm>
            <a:off x="6993582" y="1051768"/>
            <a:ext cx="33236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spc="33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FUKUOKA ON THE RIVER FESTIVAL</a:t>
            </a:r>
            <a:endParaRPr lang="en-US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6993582" y="1316534"/>
            <a:ext cx="33236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spc="128" kern="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TARGET</a:t>
            </a:r>
            <a:endParaRPr lang="en-US" sz="640" dirty="0"/>
          </a:p>
        </p:txBody>
      </p:sp>
      <p:sp>
        <p:nvSpPr>
          <p:cNvPr id="49" name="Text 44"/>
          <p:cNvSpPr txBox="1"/>
          <p:nvPr/>
        </p:nvSpPr>
        <p:spPr>
          <a:xfrm>
            <a:off x="6993582" y="1430834"/>
            <a:ext cx="3323630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1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 </a:t>
            </a:r>
            <a:pPr algn="l" indent="0" marL="0">
              <a:lnSpc>
                <a:spcPct val="160000"/>
              </a:lnSpc>
              <a:buNone/>
            </a:pPr>
            <a:r>
              <a:rPr lang="en-US" sz="61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メイン</a:t>
            </a:r>
            <a:pPr algn="l" indent="0" marL="0">
              <a:lnSpc>
                <a:spcPct val="160000"/>
              </a:lnSpc>
              <a:buNone/>
            </a:pPr>
            <a:r>
              <a:rPr lang="en-US" sz="61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  </a:t>
            </a:r>
            <a:pPr algn="l" indent="0" marL="0">
              <a:lnSpc>
                <a:spcPct val="160000"/>
              </a:lnSpc>
              <a:buNone/>
            </a:pPr>
            <a:r>
              <a:rPr lang="en-US" sz="72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国内外の観光客（アジアからの訪日客・国内旅行者、20〜40代）</a:t>
            </a:r>
            <a:endParaRPr lang="en-US" sz="610" dirty="0"/>
          </a:p>
        </p:txBody>
      </p:sp>
      <p:sp>
        <p:nvSpPr>
          <p:cNvPr id="50" name="Text 45"/>
          <p:cNvSpPr txBox="1"/>
          <p:nvPr/>
        </p:nvSpPr>
        <p:spPr>
          <a:xfrm>
            <a:off x="6993582" y="1576983"/>
            <a:ext cx="3323630" cy="14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1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 </a:t>
            </a:r>
            <a:pPr algn="l" indent="0" marL="0">
              <a:lnSpc>
                <a:spcPct val="160000"/>
              </a:lnSpc>
              <a:buNone/>
            </a:pPr>
            <a:r>
              <a:rPr lang="en-US" sz="61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サブ</a:t>
            </a:r>
            <a:pPr algn="l" indent="0" marL="0">
              <a:lnSpc>
                <a:spcPct val="160000"/>
              </a:lnSpc>
              <a:buNone/>
            </a:pPr>
            <a:r>
              <a:rPr lang="en-US" sz="61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  </a:t>
            </a:r>
            <a:pPr algn="l" indent="0" marL="0">
              <a:lnSpc>
                <a:spcPct val="160000"/>
              </a:lnSpc>
              <a:buNone/>
            </a:pPr>
            <a:r>
              <a:rPr lang="en-US" sz="72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都市圏の来街者（天神・中洲で夜を過ごす20〜40代）</a:t>
            </a:r>
            <a:endParaRPr lang="en-US" sz="610" dirty="0"/>
          </a:p>
        </p:txBody>
      </p:sp>
      <p:sp>
        <p:nvSpPr>
          <p:cNvPr id="51" name="Text 46"/>
          <p:cNvSpPr txBox="1"/>
          <p:nvPr/>
        </p:nvSpPr>
        <p:spPr>
          <a:xfrm>
            <a:off x="431899" y="1957983"/>
            <a:ext cx="30881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spc="112" kern="0" dirty="0">
                <a:solidFill>
                  <a:srgbClr val="1E8C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 データが示す伸びしろ</a:t>
            </a:r>
            <a:endParaRPr lang="en-US" sz="700" dirty="0"/>
          </a:p>
        </p:txBody>
      </p:sp>
      <p:sp>
        <p:nvSpPr>
          <p:cNvPr id="52" name="Text 47"/>
          <p:cNvSpPr txBox="1"/>
          <p:nvPr/>
        </p:nvSpPr>
        <p:spPr>
          <a:xfrm>
            <a:off x="431899" y="2103388"/>
            <a:ext cx="3088184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280" b="1" spc="38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人は来ている。</a:t>
            </a:r>
            <a:endParaRPr lang="en-US" sz="128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280" b="1" spc="38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あとは、夜に留まる理由。</a:t>
            </a:r>
            <a:endParaRPr lang="en-US" sz="1280" dirty="0"/>
          </a:p>
        </p:txBody>
      </p:sp>
      <p:sp>
        <p:nvSpPr>
          <p:cNvPr id="53" name="Text 48"/>
          <p:cNvSpPr txBox="1"/>
          <p:nvPr/>
        </p:nvSpPr>
        <p:spPr>
          <a:xfrm>
            <a:off x="431899" y="2712244"/>
            <a:ext cx="1223584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6181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2,441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万人</a:t>
            </a:r>
            <a:endParaRPr lang="en-US" sz="2300" dirty="0"/>
          </a:p>
        </p:txBody>
      </p:sp>
      <p:sp>
        <p:nvSpPr>
          <p:cNvPr id="54" name="Text 49"/>
          <p:cNvSpPr txBox="1"/>
          <p:nvPr/>
        </p:nvSpPr>
        <p:spPr>
          <a:xfrm>
            <a:off x="1727746" y="2869704"/>
            <a:ext cx="1736503" cy="2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3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2年連続で過去最高。外国人入国者も433万人（2025）で過去最高</a:t>
            </a:r>
            <a:endParaRPr lang="en-US" sz="730" dirty="0"/>
          </a:p>
        </p:txBody>
      </p:sp>
      <p:sp>
        <p:nvSpPr>
          <p:cNvPr id="55" name="Text 50"/>
          <p:cNvSpPr txBox="1"/>
          <p:nvPr/>
        </p:nvSpPr>
        <p:spPr>
          <a:xfrm>
            <a:off x="1727746" y="2712244"/>
            <a:ext cx="1787243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0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福岡市の入込観光客数（2024）</a:t>
            </a:r>
            <a:endParaRPr lang="en-US" sz="800" dirty="0"/>
          </a:p>
        </p:txBody>
      </p:sp>
      <p:sp>
        <p:nvSpPr>
          <p:cNvPr id="56" name="Text 51"/>
          <p:cNvSpPr txBox="1"/>
          <p:nvPr/>
        </p:nvSpPr>
        <p:spPr>
          <a:xfrm>
            <a:off x="431899" y="3757761"/>
            <a:ext cx="1223584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C240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75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2403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%</a:t>
            </a:r>
            <a:endParaRPr lang="en-US" sz="2300" dirty="0"/>
          </a:p>
        </p:txBody>
      </p:sp>
      <p:sp>
        <p:nvSpPr>
          <p:cNvPr id="57" name="Text 52"/>
          <p:cNvSpPr txBox="1"/>
          <p:nvPr/>
        </p:nvSpPr>
        <p:spPr>
          <a:xfrm>
            <a:off x="1727746" y="3915221"/>
            <a:ext cx="1765935" cy="2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3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宿泊につながれば、滞在と消費は大きく伸びる</a:t>
            </a:r>
            <a:endParaRPr lang="en-US" sz="730" dirty="0"/>
          </a:p>
        </p:txBody>
      </p:sp>
      <p:sp>
        <p:nvSpPr>
          <p:cNvPr id="58" name="Text 53"/>
          <p:cNvSpPr txBox="1"/>
          <p:nvPr/>
        </p:nvSpPr>
        <p:spPr>
          <a:xfrm>
            <a:off x="1727746" y="3757761"/>
            <a:ext cx="1787243" cy="15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0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そのうち日帰り客</a:t>
            </a:r>
            <a:endParaRPr lang="en-US" sz="800" dirty="0"/>
          </a:p>
        </p:txBody>
      </p:sp>
      <p:sp>
        <p:nvSpPr>
          <p:cNvPr id="59" name="Text 54"/>
          <p:cNvSpPr txBox="1"/>
          <p:nvPr/>
        </p:nvSpPr>
        <p:spPr>
          <a:xfrm>
            <a:off x="431899" y="4803279"/>
            <a:ext cx="1223584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C240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2403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割未満</a:t>
            </a:r>
            <a:endParaRPr lang="en-US" sz="2300" dirty="0"/>
          </a:p>
        </p:txBody>
      </p:sp>
      <p:sp>
        <p:nvSpPr>
          <p:cNvPr id="60" name="Text 55"/>
          <p:cNvSpPr txBox="1"/>
          <p:nvPr/>
        </p:nvSpPr>
        <p:spPr>
          <a:xfrm>
            <a:off x="1727746" y="5118199"/>
            <a:ext cx="1765935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3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地方の事例で県外7.9〜8%、大規模イルミネーションでも国外客0.4%。光は「目的」になりにくい</a:t>
            </a:r>
            <a:endParaRPr lang="en-US" sz="730" dirty="0"/>
          </a:p>
        </p:txBody>
      </p:sp>
      <p:sp>
        <p:nvSpPr>
          <p:cNvPr id="61" name="Text 56"/>
          <p:cNvSpPr txBox="1"/>
          <p:nvPr/>
        </p:nvSpPr>
        <p:spPr>
          <a:xfrm>
            <a:off x="1727746" y="4803279"/>
            <a:ext cx="178724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0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ライトアップ単体のイベントの県外客</a:t>
            </a:r>
            <a:endParaRPr lang="en-US" sz="800" dirty="0"/>
          </a:p>
        </p:txBody>
      </p:sp>
      <p:sp>
        <p:nvSpPr>
          <p:cNvPr id="62" name="Text 57"/>
          <p:cNvSpPr txBox="1"/>
          <p:nvPr/>
        </p:nvSpPr>
        <p:spPr>
          <a:xfrm>
            <a:off x="539800" y="5903714"/>
            <a:ext cx="2152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整った景観に、夜を過ごす「目的」を重ねる</a:t>
            </a:r>
            <a:endParaRPr lang="en-US" sz="820" dirty="0"/>
          </a:p>
        </p:txBody>
      </p:sp>
      <p:sp>
        <p:nvSpPr>
          <p:cNvPr id="63" name="Text 58"/>
          <p:cNvSpPr txBox="1"/>
          <p:nvPr/>
        </p:nvSpPr>
        <p:spPr>
          <a:xfrm>
            <a:off x="539800" y="6081564"/>
            <a:ext cx="287238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要項の目的「滞在時間の増加と消費拡大」に直結</a:t>
            </a:r>
            <a:endParaRPr lang="en-US" sz="700" dirty="0"/>
          </a:p>
        </p:txBody>
      </p:sp>
      <p:sp>
        <p:nvSpPr>
          <p:cNvPr id="64" name="Text 59"/>
          <p:cNvSpPr txBox="1"/>
          <p:nvPr/>
        </p:nvSpPr>
        <p:spPr>
          <a:xfrm>
            <a:off x="3678882" y="1957983"/>
            <a:ext cx="3330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spc="112" kern="0" dirty="0">
                <a:solidFill>
                  <a:srgbClr val="1E8C8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 那珂川の可能性</a:t>
            </a:r>
            <a:endParaRPr lang="en-US" sz="700" dirty="0"/>
          </a:p>
        </p:txBody>
      </p:sp>
      <p:sp>
        <p:nvSpPr>
          <p:cNvPr id="65" name="Text 60"/>
          <p:cNvSpPr txBox="1"/>
          <p:nvPr/>
        </p:nvSpPr>
        <p:spPr>
          <a:xfrm>
            <a:off x="3678882" y="2103388"/>
            <a:ext cx="3330625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280" b="1" spc="38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夜の舞台になる条件は、</a:t>
            </a:r>
            <a:endParaRPr lang="en-US" sz="128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280" b="1" spc="38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すでにそろっている。</a:t>
            </a:r>
            <a:endParaRPr lang="en-US" sz="1280" dirty="0"/>
          </a:p>
        </p:txBody>
      </p:sp>
      <p:sp>
        <p:nvSpPr>
          <p:cNvPr id="66" name="Text 61"/>
          <p:cNvSpPr txBox="1"/>
          <p:nvPr/>
        </p:nvSpPr>
        <p:spPr>
          <a:xfrm>
            <a:off x="4650730" y="2712244"/>
            <a:ext cx="2358777" cy="147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水辺に賑わいを生んだ記憶</a:t>
            </a:r>
            <a:endParaRPr lang="en-US" sz="830" dirty="0"/>
          </a:p>
        </p:txBody>
      </p:sp>
      <p:sp>
        <p:nvSpPr>
          <p:cNvPr id="67" name="Text 62"/>
          <p:cNvSpPr txBox="1"/>
          <p:nvPr/>
        </p:nvSpPr>
        <p:spPr>
          <a:xfrm>
            <a:off x="4650730" y="2877592"/>
            <a:ext cx="2358777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1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黒田藩の時代、那珂川の水辺には芝居や相撲が呼び込まれ、福岡と博多をつなぐ賑わいが生まれた</a:t>
            </a:r>
            <a:endParaRPr lang="en-US" sz="710" dirty="0"/>
          </a:p>
        </p:txBody>
      </p:sp>
      <p:sp>
        <p:nvSpPr>
          <p:cNvPr id="68" name="Text 63"/>
          <p:cNvSpPr txBox="1"/>
          <p:nvPr/>
        </p:nvSpPr>
        <p:spPr>
          <a:xfrm>
            <a:off x="4650730" y="3492103"/>
            <a:ext cx="2358777" cy="147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川に開かれたまちへ、整備が完了</a:t>
            </a:r>
            <a:endParaRPr lang="en-US" sz="830" dirty="0"/>
          </a:p>
        </p:txBody>
      </p:sp>
      <p:sp>
        <p:nvSpPr>
          <p:cNvPr id="69" name="Text 64"/>
          <p:cNvSpPr txBox="1"/>
          <p:nvPr/>
        </p:nvSpPr>
        <p:spPr>
          <a:xfrm>
            <a:off x="4650730" y="3657451"/>
            <a:ext cx="2358777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1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リバーフロントNEXTのもと、清流公園が再整備され、護岸・橋梁のライトアップが完成する</a:t>
            </a:r>
            <a:endParaRPr lang="en-US" sz="710" dirty="0"/>
          </a:p>
        </p:txBody>
      </p:sp>
      <p:sp>
        <p:nvSpPr>
          <p:cNvPr id="70" name="Text 65"/>
          <p:cNvSpPr txBox="1"/>
          <p:nvPr/>
        </p:nvSpPr>
        <p:spPr>
          <a:xfrm>
            <a:off x="4650730" y="4271963"/>
            <a:ext cx="2358777" cy="147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水上の舞台は、街の象徴になれる</a:t>
            </a:r>
            <a:endParaRPr lang="en-US" sz="830" dirty="0"/>
          </a:p>
        </p:txBody>
      </p:sp>
      <p:sp>
        <p:nvSpPr>
          <p:cNvPr id="71" name="Text 66"/>
          <p:cNvSpPr txBox="1"/>
          <p:nvPr/>
        </p:nvSpPr>
        <p:spPr>
          <a:xfrm>
            <a:off x="4650730" y="4437311"/>
            <a:ext cx="2358777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1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海外では湖上ステージの音楽祭が、常設でなくても街を代表する景観になっている（ブレゲンツ音楽祭）</a:t>
            </a:r>
            <a:endParaRPr lang="en-US" sz="710" dirty="0"/>
          </a:p>
        </p:txBody>
      </p:sp>
      <p:sp>
        <p:nvSpPr>
          <p:cNvPr id="72" name="Text 67"/>
          <p:cNvSpPr txBox="1"/>
          <p:nvPr/>
        </p:nvSpPr>
        <p:spPr>
          <a:xfrm>
            <a:off x="3786783" y="5903714"/>
            <a:ext cx="2676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ライトアップを「背景」に、川の上に「目的」をつくる</a:t>
            </a:r>
            <a:endParaRPr lang="en-US" sz="820" dirty="0"/>
          </a:p>
        </p:txBody>
      </p:sp>
      <p:sp>
        <p:nvSpPr>
          <p:cNvPr id="73" name="Text 68"/>
          <p:cNvSpPr txBox="1"/>
          <p:nvPr/>
        </p:nvSpPr>
        <p:spPr>
          <a:xfrm>
            <a:off x="3786783" y="6081564"/>
            <a:ext cx="311482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0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市の整備を、人を呼ぶ体験に変える</a:t>
            </a:r>
            <a:endParaRPr lang="en-US" sz="700" dirty="0"/>
          </a:p>
        </p:txBody>
      </p:sp>
      <p:sp>
        <p:nvSpPr>
          <p:cNvPr id="74" name="Text 69"/>
          <p:cNvSpPr txBox="1"/>
          <p:nvPr/>
        </p:nvSpPr>
        <p:spPr>
          <a:xfrm>
            <a:off x="7330232" y="1972419"/>
            <a:ext cx="28250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spc="112" kern="0" dirty="0">
                <a:solidFill>
                  <a:srgbClr val="7FD3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 コンセプト</a:t>
            </a:r>
            <a:endParaRPr lang="en-US" sz="700" dirty="0"/>
          </a:p>
        </p:txBody>
      </p:sp>
      <p:sp>
        <p:nvSpPr>
          <p:cNvPr id="75" name="Text 70"/>
          <p:cNvSpPr txBox="1"/>
          <p:nvPr/>
        </p:nvSpPr>
        <p:spPr>
          <a:xfrm>
            <a:off x="7330232" y="2117824"/>
            <a:ext cx="2825055" cy="44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280" b="1" spc="38" kern="0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土台に「舞台」を加え、</a:t>
            </a:r>
            <a:endParaRPr lang="en-US" sz="1280" dirty="0"/>
          </a:p>
          <a:p>
            <a:pPr algn="l" indent="0" marL="0">
              <a:lnSpc>
                <a:spcPct val="138000"/>
              </a:lnSpc>
              <a:buNone/>
            </a:pPr>
            <a:r>
              <a:rPr lang="en-US" sz="1280" b="1" spc="38" kern="0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文化景観を育てる。</a:t>
            </a:r>
            <a:endParaRPr lang="en-US" sz="1280" dirty="0"/>
          </a:p>
        </p:txBody>
      </p:sp>
      <p:sp>
        <p:nvSpPr>
          <p:cNvPr id="76" name="Text 71"/>
          <p:cNvSpPr txBox="1"/>
          <p:nvPr/>
        </p:nvSpPr>
        <p:spPr>
          <a:xfrm>
            <a:off x="7447657" y="2805559"/>
            <a:ext cx="25902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b="1" spc="90" kern="0" dirty="0">
                <a:solidFill>
                  <a:srgbClr val="7FD3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景観｜那珂川にすでにある土台</a:t>
            </a:r>
            <a:endParaRPr lang="en-US" sz="640" dirty="0"/>
          </a:p>
        </p:txBody>
      </p:sp>
      <p:sp>
        <p:nvSpPr>
          <p:cNvPr id="77" name="Text 72"/>
          <p:cNvSpPr txBox="1"/>
          <p:nvPr/>
        </p:nvSpPr>
        <p:spPr>
          <a:xfrm>
            <a:off x="7447657" y="2919859"/>
            <a:ext cx="2590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自然都市景観</a:t>
            </a:r>
            <a:endParaRPr lang="en-US" sz="960" dirty="0"/>
          </a:p>
        </p:txBody>
      </p:sp>
      <p:sp>
        <p:nvSpPr>
          <p:cNvPr id="78" name="Text 73"/>
          <p:cNvSpPr txBox="1"/>
          <p:nvPr/>
        </p:nvSpPr>
        <p:spPr>
          <a:xfrm>
            <a:off x="7447657" y="3100834"/>
            <a:ext cx="2590205" cy="12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0" dirty="0">
                <a:solidFill>
                  <a:srgbClr val="B9BEC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水辺の賑わいの歴史・清流公園の再整備・ライトアップ</a:t>
            </a:r>
            <a:endParaRPr lang="en-US" sz="690" dirty="0"/>
          </a:p>
        </p:txBody>
      </p:sp>
      <p:sp>
        <p:nvSpPr>
          <p:cNvPr id="79" name="Text 74"/>
          <p:cNvSpPr txBox="1"/>
          <p:nvPr/>
        </p:nvSpPr>
        <p:spPr>
          <a:xfrm>
            <a:off x="7330232" y="3477518"/>
            <a:ext cx="2767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×</a:t>
            </a:r>
            <a:endParaRPr lang="en-US" sz="1200" dirty="0"/>
          </a:p>
        </p:txBody>
      </p:sp>
      <p:sp>
        <p:nvSpPr>
          <p:cNvPr id="80" name="Text 75"/>
          <p:cNvSpPr txBox="1"/>
          <p:nvPr/>
        </p:nvSpPr>
        <p:spPr>
          <a:xfrm>
            <a:off x="7447657" y="3883968"/>
            <a:ext cx="25902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b="1" spc="90" kern="0" dirty="0">
                <a:solidFill>
                  <a:srgbClr val="7FD3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目的｜本事業が加えるもの</a:t>
            </a:r>
            <a:endParaRPr lang="en-US" sz="640" dirty="0"/>
          </a:p>
        </p:txBody>
      </p:sp>
      <p:sp>
        <p:nvSpPr>
          <p:cNvPr id="81" name="Text 76"/>
          <p:cNvSpPr txBox="1"/>
          <p:nvPr/>
        </p:nvSpPr>
        <p:spPr>
          <a:xfrm>
            <a:off x="7447657" y="3998268"/>
            <a:ext cx="2590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作り手が集う舞台・文化</a:t>
            </a:r>
            <a:endParaRPr lang="en-US" sz="960" dirty="0"/>
          </a:p>
        </p:txBody>
      </p:sp>
      <p:sp>
        <p:nvSpPr>
          <p:cNvPr id="82" name="Text 77"/>
          <p:cNvSpPr txBox="1"/>
          <p:nvPr/>
        </p:nvSpPr>
        <p:spPr>
          <a:xfrm>
            <a:off x="7447657" y="4179243"/>
            <a:ext cx="2590205" cy="12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0" dirty="0">
                <a:solidFill>
                  <a:srgbClr val="B9BEC6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川の上のステージ・人を呼ぶアーティスト</a:t>
            </a:r>
            <a:endParaRPr lang="en-US" sz="690" dirty="0"/>
          </a:p>
        </p:txBody>
      </p:sp>
      <p:sp>
        <p:nvSpPr>
          <p:cNvPr id="83" name="Text 78"/>
          <p:cNvSpPr txBox="1"/>
          <p:nvPr/>
        </p:nvSpPr>
        <p:spPr>
          <a:xfrm>
            <a:off x="7330232" y="4555927"/>
            <a:ext cx="2767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CDD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＝</a:t>
            </a:r>
            <a:endParaRPr lang="en-US" sz="1200" dirty="0"/>
          </a:p>
        </p:txBody>
      </p:sp>
      <p:sp>
        <p:nvSpPr>
          <p:cNvPr id="84" name="Text 79"/>
          <p:cNvSpPr txBox="1"/>
          <p:nvPr/>
        </p:nvSpPr>
        <p:spPr>
          <a:xfrm>
            <a:off x="7447657" y="4962376"/>
            <a:ext cx="25902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40" b="1" spc="90" kern="0" dirty="0">
                <a:solidFill>
                  <a:srgbClr val="1E8C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目指す姿</a:t>
            </a:r>
            <a:endParaRPr lang="en-US" sz="640" dirty="0"/>
          </a:p>
        </p:txBody>
      </p:sp>
      <p:sp>
        <p:nvSpPr>
          <p:cNvPr id="85" name="Text 80"/>
          <p:cNvSpPr txBox="1"/>
          <p:nvPr/>
        </p:nvSpPr>
        <p:spPr>
          <a:xfrm>
            <a:off x="7447657" y="5076676"/>
            <a:ext cx="25902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文化景観</a:t>
            </a:r>
            <a:endParaRPr lang="en-US" sz="1300" dirty="0"/>
          </a:p>
        </p:txBody>
      </p:sp>
      <p:sp>
        <p:nvSpPr>
          <p:cNvPr id="86" name="Text 81"/>
          <p:cNvSpPr txBox="1"/>
          <p:nvPr/>
        </p:nvSpPr>
        <p:spPr>
          <a:xfrm>
            <a:off x="7447657" y="5314801"/>
            <a:ext cx="2590205" cy="12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0" dirty="0">
                <a:solidFill>
                  <a:srgbClr val="4A4E5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人が集い、遊び、撮り、語り継ぐ、福岡を象徴する景色</a:t>
            </a:r>
            <a:endParaRPr lang="en-US" sz="690" dirty="0"/>
          </a:p>
        </p:txBody>
      </p:sp>
      <p:sp>
        <p:nvSpPr>
          <p:cNvPr id="87" name="Text 82"/>
          <p:cNvSpPr txBox="1"/>
          <p:nvPr/>
        </p:nvSpPr>
        <p:spPr>
          <a:xfrm>
            <a:off x="7510314" y="5906244"/>
            <a:ext cx="5297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9CDD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夜まで留まる</a:t>
            </a:r>
            <a:endParaRPr lang="en-US" sz="700" dirty="0"/>
          </a:p>
        </p:txBody>
      </p:sp>
      <p:sp>
        <p:nvSpPr>
          <p:cNvPr id="88" name="Text 83"/>
          <p:cNvSpPr txBox="1"/>
          <p:nvPr/>
        </p:nvSpPr>
        <p:spPr>
          <a:xfrm>
            <a:off x="7330232" y="5762923"/>
            <a:ext cx="874663" cy="1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滞在</a:t>
            </a:r>
            <a:endParaRPr lang="en-US" sz="860" dirty="0"/>
          </a:p>
        </p:txBody>
      </p:sp>
      <p:sp>
        <p:nvSpPr>
          <p:cNvPr id="89" name="Text 84"/>
          <p:cNvSpPr txBox="1"/>
          <p:nvPr/>
        </p:nvSpPr>
        <p:spPr>
          <a:xfrm>
            <a:off x="8328273" y="5906244"/>
            <a:ext cx="794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9CDD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体験にお金が落ちる</a:t>
            </a:r>
            <a:endParaRPr lang="en-US" sz="700" dirty="0"/>
          </a:p>
        </p:txBody>
      </p:sp>
      <p:sp>
        <p:nvSpPr>
          <p:cNvPr id="90" name="Text 85"/>
          <p:cNvSpPr txBox="1"/>
          <p:nvPr/>
        </p:nvSpPr>
        <p:spPr>
          <a:xfrm>
            <a:off x="8276779" y="5762923"/>
            <a:ext cx="874663" cy="1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消費</a:t>
            </a:r>
            <a:endParaRPr lang="en-US" sz="860" dirty="0"/>
          </a:p>
        </p:txBody>
      </p:sp>
      <p:sp>
        <p:nvSpPr>
          <p:cNvPr id="91" name="Text 86"/>
          <p:cNvSpPr txBox="1"/>
          <p:nvPr/>
        </p:nvSpPr>
        <p:spPr>
          <a:xfrm>
            <a:off x="9403556" y="5906244"/>
            <a:ext cx="5297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9CDD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面白いことが</a:t>
            </a:r>
            <a:endParaRPr lang="en-US" sz="700" dirty="0"/>
          </a:p>
        </p:txBody>
      </p:sp>
      <p:sp>
        <p:nvSpPr>
          <p:cNvPr id="92" name="Text 87"/>
          <p:cNvSpPr txBox="1"/>
          <p:nvPr/>
        </p:nvSpPr>
        <p:spPr>
          <a:xfrm>
            <a:off x="9446419" y="6030516"/>
            <a:ext cx="4414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C9CDD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生まれる川</a:t>
            </a:r>
            <a:endParaRPr lang="en-US" sz="700" dirty="0"/>
          </a:p>
        </p:txBody>
      </p:sp>
      <p:sp>
        <p:nvSpPr>
          <p:cNvPr id="93" name="Text 88"/>
          <p:cNvSpPr txBox="1"/>
          <p:nvPr/>
        </p:nvSpPr>
        <p:spPr>
          <a:xfrm>
            <a:off x="9223325" y="5762923"/>
            <a:ext cx="874812" cy="1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ブランド</a:t>
            </a:r>
            <a:endParaRPr lang="en-US" sz="860" dirty="0"/>
          </a:p>
        </p:txBody>
      </p:sp>
      <p:sp>
        <p:nvSpPr>
          <p:cNvPr id="94" name="Text 89"/>
          <p:cNvSpPr txBox="1"/>
          <p:nvPr/>
        </p:nvSpPr>
        <p:spPr>
          <a:xfrm>
            <a:off x="431899" y="6557367"/>
            <a:ext cx="426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b="1" spc="140" kern="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設計の要</a:t>
            </a:r>
            <a:endParaRPr lang="en-US" sz="700" dirty="0"/>
          </a:p>
        </p:txBody>
      </p:sp>
      <p:sp>
        <p:nvSpPr>
          <p:cNvPr id="95" name="Text 90"/>
          <p:cNvSpPr txBox="1"/>
          <p:nvPr/>
        </p:nvSpPr>
        <p:spPr>
          <a:xfrm>
            <a:off x="1025872" y="6539359"/>
            <a:ext cx="6942981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0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市が整えた景観を背景に、</a:t>
            </a:r>
            <a:pPr algn="l" indent="0" marL="0">
              <a:lnSpc>
                <a:spcPct val="155000"/>
              </a:lnSpc>
              <a:buNone/>
            </a:pPr>
            <a:r>
              <a:rPr lang="en-US" sz="860" b="1" dirty="0">
                <a:solidFill>
                  <a:srgbClr val="16181C"/>
                </a:solidFill>
                <a:highlight>
                  <a:srgbClr val="CDEBE6"/>
                </a:highlight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川の上の舞台と人を呼ぶアーティストを「目的」として置き、</a:t>
            </a:r>
            <a:pPr algn="l" indent="0" marL="0">
              <a:lnSpc>
                <a:spcPct val="155000"/>
              </a:lnSpc>
              <a:buNone/>
            </a:pPr>
            <a:r>
              <a:rPr lang="en-US" sz="860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景観と集客を同時に成立させる。</a:t>
            </a:r>
            <a:endParaRPr lang="en-US" sz="860" dirty="0"/>
          </a:p>
        </p:txBody>
      </p:sp>
      <p:sp>
        <p:nvSpPr>
          <p:cNvPr id="96" name="Text 91"/>
          <p:cNvSpPr txBox="1"/>
          <p:nvPr/>
        </p:nvSpPr>
        <p:spPr>
          <a:xfrm>
            <a:off x="8199636" y="6547938"/>
            <a:ext cx="2009575" cy="15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40" b="1" dirty="0">
                <a:solidFill>
                  <a:srgbClr val="16181C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次ページ：水上ステージとヘッドライナー →</a:t>
            </a:r>
            <a:endParaRPr lang="en-US" sz="740" dirty="0"/>
          </a:p>
        </p:txBody>
      </p:sp>
      <p:sp>
        <p:nvSpPr>
          <p:cNvPr id="97" name="Text 92"/>
          <p:cNvSpPr txBox="1"/>
          <p:nvPr/>
        </p:nvSpPr>
        <p:spPr>
          <a:xfrm>
            <a:off x="431899" y="7004298"/>
            <a:ext cx="5494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spc="212" kern="0" dirty="0">
                <a:solidFill>
                  <a:srgbClr val="16181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VISION</a:t>
            </a:r>
            <a:endParaRPr lang="en-US" sz="850" dirty="0"/>
          </a:p>
        </p:txBody>
      </p:sp>
      <p:sp>
        <p:nvSpPr>
          <p:cNvPr id="98" name="Text 93"/>
          <p:cNvSpPr txBox="1"/>
          <p:nvPr/>
        </p:nvSpPr>
        <p:spPr>
          <a:xfrm>
            <a:off x="1145232" y="6956673"/>
            <a:ext cx="68502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40" b="1" spc="42" kern="0" dirty="0">
                <a:solidFill>
                  <a:srgbClr val="16181C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今回のイベントを起点として、川と共に文化が育ち、福岡ならではの景観が生まれ、世界へ波及していくこと</a:t>
            </a:r>
            <a:endParaRPr lang="en-US" sz="1040" dirty="0"/>
          </a:p>
        </p:txBody>
      </p:sp>
      <p:sp>
        <p:nvSpPr>
          <p:cNvPr id="99" name="Text 94"/>
          <p:cNvSpPr txBox="1"/>
          <p:nvPr/>
        </p:nvSpPr>
        <p:spPr>
          <a:xfrm>
            <a:off x="431899" y="7197477"/>
            <a:ext cx="9885313" cy="11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80" dirty="0">
                <a:solidFill>
                  <a:srgbClr val="8A8E95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出典：福岡市「福岡市の観光・MICE」2026年版／鶴岡市「藤島イルミネーション来場者アンケート」（2019）／郡山市 イルミネーション事業成果報告／東京都「TOKYO NIGHTTIME PROJECT 経済波及効果」（ヨルノヨ2023・都庁前イルミネーション2024年度）／ブレゲンツ音楽祭 公表値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</dc:title>
  <dc:subject>PptxGenJS Presentation</dc:subject>
  <dc:creator>PptxGenJS</dc:creator>
  <cp:lastModifiedBy>PptxGenJS</cp:lastModifiedBy>
  <cp:revision>1</cp:revision>
  <dcterms:created xsi:type="dcterms:W3CDTF">2026-10-22T08:58:30Z</dcterms:created>
  <dcterms:modified xsi:type="dcterms:W3CDTF">2026-10-22T08:58:30Z</dcterms:modified>
</cp:coreProperties>
</file>
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1961" cy="7559873"/>
  <p:notesSz cx="7559873" cy="1069196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3582" y="1449884"/>
            <a:ext cx="307777" cy="104775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3" name="Shape 1"/>
          <p:cNvSpPr/>
          <p:nvPr/>
        </p:nvSpPr>
        <p:spPr>
          <a:xfrm>
            <a:off x="6993582" y="1596033"/>
            <a:ext cx="231577" cy="104775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4" name="Shape 2"/>
          <p:cNvSpPr/>
          <p:nvPr/>
        </p:nvSpPr>
        <p:spPr>
          <a:xfrm>
            <a:off x="431899" y="5673923"/>
            <a:ext cx="3031034" cy="491282"/>
          </a:xfrm>
          <a:prstGeom prst="rect">
            <a:avLst/>
          </a:prstGeom>
          <a:solidFill>
            <a:srgbClr val="F2F4F5"/>
          </a:solidFill>
          <a:ln/>
        </p:spPr>
      </p:sp>
      <p:sp>
        <p:nvSpPr>
          <p:cNvPr id="5" name="Shape 3"/>
          <p:cNvSpPr/>
          <p:nvPr/>
        </p:nvSpPr>
        <p:spPr>
          <a:xfrm>
            <a:off x="3678882" y="5673923"/>
            <a:ext cx="3182541" cy="491282"/>
          </a:xfrm>
          <a:prstGeom prst="rect">
            <a:avLst/>
          </a:prstGeom>
          <a:solidFill>
            <a:srgbClr val="F2F4F5"/>
          </a:solidFill>
          <a:ln/>
        </p:spPr>
      </p:sp>
      <p:sp>
        <p:nvSpPr>
          <p:cNvPr id="6" name="Shape 4"/>
          <p:cNvSpPr/>
          <p:nvPr/>
        </p:nvSpPr>
        <p:spPr>
          <a:xfrm>
            <a:off x="7077373" y="1903065"/>
            <a:ext cx="3182541" cy="4262140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7" name="Shape 5"/>
          <p:cNvSpPr/>
          <p:nvPr/>
        </p:nvSpPr>
        <p:spPr>
          <a:xfrm>
            <a:off x="7239298" y="4679156"/>
            <a:ext cx="2858691" cy="72955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/tmp/claude-0/-home-user-kzmymn/fdce6fa0-cabe-5c64-b6f9-669e7809d82e/scratchpad/pptimg1/img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8882" y="2808536"/>
            <a:ext cx="863947" cy="611981"/>
          </a:xfrm>
          <a:prstGeom prst="rect">
            <a:avLst/>
          </a:prstGeom>
        </p:spPr>
      </p:pic>
      <p:pic>
        <p:nvPicPr>
          <p:cNvPr id="9" name="Image 1" descr="/tmp/claude-0/-home-user-kzmymn/fdce6fa0-cabe-5c64-b6f9-669e7809d82e/scratchpad/pptimg1/img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82" y="3588395"/>
            <a:ext cx="863947" cy="611981"/>
          </a:xfrm>
          <a:prstGeom prst="rect">
            <a:avLst/>
          </a:prstGeom>
        </p:spPr>
      </p:pic>
      <p:pic>
        <p:nvPicPr>
          <p:cNvPr id="10" name="Image 2" descr="/tmp/claude-0/-home-user-kzmymn/fdce6fa0-cabe-5c64-b6f9-669e7809d82e/scratchpad/pptimg1/img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882" y="4368254"/>
            <a:ext cx="863947" cy="61198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1899" y="541139"/>
            <a:ext cx="9828163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808887" y="937468"/>
            <a:ext cx="0" cy="785664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31899" y="1912590"/>
            <a:ext cx="3031034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31899" y="2724596"/>
            <a:ext cx="3031034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31899" y="3685282"/>
            <a:ext cx="3031034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31899" y="4645968"/>
            <a:ext cx="3031034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678882" y="1912590"/>
            <a:ext cx="3182541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78882" y="2724596"/>
            <a:ext cx="3182541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78882" y="3504456"/>
            <a:ext cx="3182541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78882" y="4284315"/>
            <a:ext cx="3182541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077373" y="1912590"/>
            <a:ext cx="3182541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239298" y="2756892"/>
            <a:ext cx="2858691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93226" y="2752130"/>
            <a:ext cx="0" cy="672405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39298" y="3419773"/>
            <a:ext cx="2858691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44060" y="2752130"/>
            <a:ext cx="0" cy="672405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39298" y="3720405"/>
            <a:ext cx="2858691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093226" y="3715643"/>
            <a:ext cx="0" cy="672405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239298" y="4383286"/>
            <a:ext cx="2858691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44060" y="3715643"/>
            <a:ext cx="0" cy="672405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39298" y="4683919"/>
            <a:ext cx="285869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093226" y="4679156"/>
            <a:ext cx="0" cy="72955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239298" y="5403949"/>
            <a:ext cx="285869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244060" y="4679156"/>
            <a:ext cx="0" cy="72955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239298" y="5557540"/>
            <a:ext cx="2858691" cy="0"/>
          </a:xfrm>
          <a:prstGeom prst="line">
            <a:avLst/>
          </a:prstGeom>
          <a:noFill/>
          <a:ln w="9525">
            <a:solidFill>
              <a:srgbClr val="44484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31899" y="6313884"/>
            <a:ext cx="9828163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091636" y="6459587"/>
            <a:ext cx="2168426" cy="0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0255300" y="6454825"/>
            <a:ext cx="0" cy="253008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091636" y="6703070"/>
            <a:ext cx="2168426" cy="0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096399" y="6454825"/>
            <a:ext cx="0" cy="253008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31899" y="6867971"/>
            <a:ext cx="9828163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31899" y="323999"/>
            <a:ext cx="2609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b="1" spc="165" kern="0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 実施内容｜1-1 本提案の位置づけとコンセプト</a:t>
            </a:r>
            <a:endParaRPr lang="en-US" sz="750" dirty="0"/>
          </a:p>
        </p:txBody>
      </p:sp>
      <p:sp>
        <p:nvSpPr>
          <p:cNvPr id="42" name="Text 37"/>
          <p:cNvSpPr txBox="1"/>
          <p:nvPr/>
        </p:nvSpPr>
        <p:spPr>
          <a:xfrm>
            <a:off x="10200977" y="323999"/>
            <a:ext cx="608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b="1" spc="165" kern="0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</a:t>
            </a:r>
            <a:endParaRPr lang="en-US" sz="750" dirty="0"/>
          </a:p>
        </p:txBody>
      </p:sp>
      <p:sp>
        <p:nvSpPr>
          <p:cNvPr id="43" name="Text 38"/>
          <p:cNvSpPr txBox="1"/>
          <p:nvPr/>
        </p:nvSpPr>
        <p:spPr>
          <a:xfrm>
            <a:off x="431899" y="712589"/>
            <a:ext cx="6141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spc="210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CONCEPT</a:t>
            </a:r>
            <a:endParaRPr lang="en-US" sz="700" dirty="0"/>
          </a:p>
        </p:txBody>
      </p:sp>
      <p:sp>
        <p:nvSpPr>
          <p:cNvPr id="44" name="Text 39"/>
          <p:cNvSpPr txBox="1"/>
          <p:nvPr/>
        </p:nvSpPr>
        <p:spPr>
          <a:xfrm>
            <a:off x="431899" y="881807"/>
            <a:ext cx="614139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spc="120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那珂川を、アジアを代表する文化景観に。</a:t>
            </a:r>
            <a:endParaRPr lang="en-US" sz="2400" dirty="0"/>
          </a:p>
        </p:txBody>
      </p:sp>
      <p:sp>
        <p:nvSpPr>
          <p:cNvPr id="45" name="Text 40"/>
          <p:cNvSpPr txBox="1"/>
          <p:nvPr/>
        </p:nvSpPr>
        <p:spPr>
          <a:xfrm>
            <a:off x="431899" y="1349871"/>
            <a:ext cx="61413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4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人が訪れ続ける場所には、渋谷のスクランブル交差点や道頓堀のように、人の営みと遊び心が積み重なった</a:t>
            </a:r>
            <a:pPr algn="l" indent="0" marL="0">
              <a:lnSpc>
                <a:spcPct val="175000"/>
              </a:lnSpc>
              <a:buNone/>
            </a:pPr>
            <a:r>
              <a:rPr lang="en-US" sz="84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「文化景観」</a:t>
            </a:r>
            <a:pPr algn="l" indent="0" marL="0">
              <a:lnSpc>
                <a:spcPct val="175000"/>
              </a:lnSpc>
              <a:buNone/>
            </a:pPr>
            <a:r>
              <a:rPr lang="en-US" sz="84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がある。福岡には人が来ている。足りないのは、</a:t>
            </a:r>
            <a:pPr algn="l" indent="0" marL="0">
              <a:lnSpc>
                <a:spcPct val="175000"/>
              </a:lnSpc>
              <a:buNone/>
            </a:pPr>
            <a:r>
              <a:rPr lang="en-US" sz="84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夜まで留まり、体験したくなる景観</a:t>
            </a:r>
            <a:pPr algn="l" indent="0" marL="0">
              <a:lnSpc>
                <a:spcPct val="175000"/>
              </a:lnSpc>
              <a:buNone/>
            </a:pPr>
            <a:r>
              <a:rPr lang="en-US" sz="84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だ。</a:t>
            </a:r>
            <a:endParaRPr lang="en-US" sz="840" dirty="0"/>
          </a:p>
        </p:txBody>
      </p:sp>
      <p:sp>
        <p:nvSpPr>
          <p:cNvPr id="46" name="Text 41"/>
          <p:cNvSpPr txBox="1"/>
          <p:nvPr/>
        </p:nvSpPr>
        <p:spPr>
          <a:xfrm>
            <a:off x="6993582" y="937468"/>
            <a:ext cx="33236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spc="128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THEME</a:t>
            </a:r>
            <a:endParaRPr lang="en-US" sz="640" dirty="0"/>
          </a:p>
        </p:txBody>
      </p:sp>
      <p:sp>
        <p:nvSpPr>
          <p:cNvPr id="47" name="Text 42"/>
          <p:cNvSpPr txBox="1"/>
          <p:nvPr/>
        </p:nvSpPr>
        <p:spPr>
          <a:xfrm>
            <a:off x="6993582" y="1051768"/>
            <a:ext cx="33236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33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FUKUOKA ON THE RIVER FESTIVAL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6993582" y="1316534"/>
            <a:ext cx="33236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spc="128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TARGET</a:t>
            </a:r>
            <a:endParaRPr lang="en-US" sz="640" dirty="0"/>
          </a:p>
        </p:txBody>
      </p:sp>
      <p:sp>
        <p:nvSpPr>
          <p:cNvPr id="49" name="Text 44"/>
          <p:cNvSpPr txBox="1"/>
          <p:nvPr/>
        </p:nvSpPr>
        <p:spPr>
          <a:xfrm>
            <a:off x="6993582" y="1430834"/>
            <a:ext cx="3323630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</a:t>
            </a:r>
            <a:pPr algn="l" indent="0" marL="0">
              <a:lnSpc>
                <a:spcPct val="160000"/>
              </a:lnSpc>
              <a:buNone/>
            </a:pPr>
            <a:r>
              <a:rPr lang="en-US" sz="61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メイン</a:t>
            </a:r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  </a:t>
            </a:r>
            <a:pPr algn="l" indent="0" marL="0">
              <a:lnSpc>
                <a:spcPct val="160000"/>
              </a:lnSpc>
              <a:buNone/>
            </a:pPr>
            <a:r>
              <a:rPr lang="en-US" sz="72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国内外の観光客（アジアからの訪日客・国内旅行者、20〜40代）</a:t>
            </a:r>
            <a:endParaRPr lang="en-US" sz="610" dirty="0"/>
          </a:p>
        </p:txBody>
      </p:sp>
      <p:sp>
        <p:nvSpPr>
          <p:cNvPr id="50" name="Text 45"/>
          <p:cNvSpPr txBox="1"/>
          <p:nvPr/>
        </p:nvSpPr>
        <p:spPr>
          <a:xfrm>
            <a:off x="6993582" y="1576983"/>
            <a:ext cx="3323630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</a:t>
            </a:r>
            <a:pPr algn="l" indent="0" marL="0">
              <a:lnSpc>
                <a:spcPct val="160000"/>
              </a:lnSpc>
              <a:buNone/>
            </a:pPr>
            <a:r>
              <a:rPr lang="en-US" sz="61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サブ</a:t>
            </a:r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  </a:t>
            </a:r>
            <a:pPr algn="l" indent="0" marL="0">
              <a:lnSpc>
                <a:spcPct val="160000"/>
              </a:lnSpc>
              <a:buNone/>
            </a:pPr>
            <a:r>
              <a:rPr lang="en-US" sz="72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都市圏の来街者（天神・中洲で夜を過ごす20〜40代）</a:t>
            </a:r>
            <a:endParaRPr lang="en-US" sz="610" dirty="0"/>
          </a:p>
        </p:txBody>
      </p:sp>
      <p:sp>
        <p:nvSpPr>
          <p:cNvPr id="51" name="Text 46"/>
          <p:cNvSpPr txBox="1"/>
          <p:nvPr/>
        </p:nvSpPr>
        <p:spPr>
          <a:xfrm>
            <a:off x="431899" y="1993999"/>
            <a:ext cx="30881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12" kern="0" dirty="0">
                <a:solidFill>
                  <a:srgbClr val="1E8C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現状</a:t>
            </a:r>
            <a:endParaRPr lang="en-US" sz="700" dirty="0"/>
          </a:p>
        </p:txBody>
      </p:sp>
      <p:sp>
        <p:nvSpPr>
          <p:cNvPr id="52" name="Text 47"/>
          <p:cNvSpPr txBox="1"/>
          <p:nvPr/>
        </p:nvSpPr>
        <p:spPr>
          <a:xfrm>
            <a:off x="431899" y="2146548"/>
            <a:ext cx="30881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41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人は来ている。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b="1" spc="41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でも、留まらない。</a:t>
            </a:r>
            <a:endParaRPr lang="en-US" sz="1350" dirty="0"/>
          </a:p>
        </p:txBody>
      </p:sp>
      <p:sp>
        <p:nvSpPr>
          <p:cNvPr id="53" name="Text 48"/>
          <p:cNvSpPr txBox="1"/>
          <p:nvPr/>
        </p:nvSpPr>
        <p:spPr>
          <a:xfrm>
            <a:off x="431899" y="2822823"/>
            <a:ext cx="122358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6181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2,441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万人</a:t>
            </a:r>
            <a:endParaRPr lang="en-US" sz="2300" dirty="0"/>
          </a:p>
        </p:txBody>
      </p:sp>
      <p:sp>
        <p:nvSpPr>
          <p:cNvPr id="54" name="Text 49"/>
          <p:cNvSpPr txBox="1"/>
          <p:nvPr/>
        </p:nvSpPr>
        <p:spPr>
          <a:xfrm>
            <a:off x="1727746" y="2980283"/>
            <a:ext cx="1736503" cy="2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3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2年連続で過去最高。外国人入国者も433万人（2025）で過去最高</a:t>
            </a:r>
            <a:endParaRPr lang="en-US" sz="730" dirty="0"/>
          </a:p>
        </p:txBody>
      </p:sp>
      <p:sp>
        <p:nvSpPr>
          <p:cNvPr id="55" name="Text 50"/>
          <p:cNvSpPr txBox="1"/>
          <p:nvPr/>
        </p:nvSpPr>
        <p:spPr>
          <a:xfrm>
            <a:off x="1727746" y="2822823"/>
            <a:ext cx="1787243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0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福岡市の入込観光客数（2024）</a:t>
            </a:r>
            <a:endParaRPr lang="en-US" sz="800" dirty="0"/>
          </a:p>
        </p:txBody>
      </p:sp>
      <p:sp>
        <p:nvSpPr>
          <p:cNvPr id="56" name="Text 51"/>
          <p:cNvSpPr txBox="1"/>
          <p:nvPr/>
        </p:nvSpPr>
        <p:spPr>
          <a:xfrm>
            <a:off x="431899" y="3783509"/>
            <a:ext cx="122358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C240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75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2403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%</a:t>
            </a:r>
            <a:endParaRPr lang="en-US" sz="2300" dirty="0"/>
          </a:p>
        </p:txBody>
      </p:sp>
      <p:sp>
        <p:nvSpPr>
          <p:cNvPr id="57" name="Text 52"/>
          <p:cNvSpPr txBox="1"/>
          <p:nvPr/>
        </p:nvSpPr>
        <p:spPr>
          <a:xfrm>
            <a:off x="1727746" y="3940969"/>
            <a:ext cx="1785557" cy="2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3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1,840万人が日帰り。宿泊は601万人にとどまる</a:t>
            </a:r>
            <a:endParaRPr lang="en-US" sz="730" dirty="0"/>
          </a:p>
        </p:txBody>
      </p:sp>
      <p:sp>
        <p:nvSpPr>
          <p:cNvPr id="58" name="Text 53"/>
          <p:cNvSpPr txBox="1"/>
          <p:nvPr/>
        </p:nvSpPr>
        <p:spPr>
          <a:xfrm>
            <a:off x="1727746" y="3783509"/>
            <a:ext cx="1787243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0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そのうち日帰り客の割合</a:t>
            </a:r>
            <a:endParaRPr lang="en-US" sz="800" dirty="0"/>
          </a:p>
        </p:txBody>
      </p:sp>
      <p:sp>
        <p:nvSpPr>
          <p:cNvPr id="59" name="Text 54"/>
          <p:cNvSpPr txBox="1"/>
          <p:nvPr/>
        </p:nvSpPr>
        <p:spPr>
          <a:xfrm>
            <a:off x="431899" y="4744194"/>
            <a:ext cx="122358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C240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4.5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2403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%</a:t>
            </a:r>
            <a:endParaRPr lang="en-US" sz="2300" dirty="0"/>
          </a:p>
        </p:txBody>
      </p:sp>
      <p:sp>
        <p:nvSpPr>
          <p:cNvPr id="60" name="Text 55"/>
          <p:cNvSpPr txBox="1"/>
          <p:nvPr/>
        </p:nvSpPr>
        <p:spPr>
          <a:xfrm>
            <a:off x="1727746" y="5059114"/>
            <a:ext cx="1765935" cy="2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3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宿泊・買物・飲食が大半。体験にはお金が落ちていない（全国・2025）</a:t>
            </a:r>
            <a:endParaRPr lang="en-US" sz="730" dirty="0"/>
          </a:p>
        </p:txBody>
      </p:sp>
      <p:sp>
        <p:nvSpPr>
          <p:cNvPr id="61" name="Text 56"/>
          <p:cNvSpPr txBox="1"/>
          <p:nvPr/>
        </p:nvSpPr>
        <p:spPr>
          <a:xfrm>
            <a:off x="1727746" y="4744194"/>
            <a:ext cx="178724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0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訪日客の旅行支出に占める娯楽・体験</a:t>
            </a:r>
            <a:endParaRPr lang="en-US" sz="800" dirty="0"/>
          </a:p>
        </p:txBody>
      </p:sp>
      <p:sp>
        <p:nvSpPr>
          <p:cNvPr id="62" name="Text 57"/>
          <p:cNvSpPr txBox="1"/>
          <p:nvPr/>
        </p:nvSpPr>
        <p:spPr>
          <a:xfrm>
            <a:off x="547092" y="5760244"/>
            <a:ext cx="1834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街に留まり、体験する理由が足りない</a:t>
            </a:r>
            <a:endParaRPr lang="en-US" sz="860" dirty="0"/>
          </a:p>
        </p:txBody>
      </p:sp>
      <p:sp>
        <p:nvSpPr>
          <p:cNvPr id="63" name="Text 58"/>
          <p:cNvSpPr txBox="1"/>
          <p:nvPr/>
        </p:nvSpPr>
        <p:spPr>
          <a:xfrm>
            <a:off x="547092" y="5945684"/>
            <a:ext cx="285779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要項の目的「滞在時間の増加と消費拡大」に直結する課題</a:t>
            </a:r>
            <a:endParaRPr lang="en-US" sz="700" dirty="0"/>
          </a:p>
        </p:txBody>
      </p:sp>
      <p:sp>
        <p:nvSpPr>
          <p:cNvPr id="64" name="Text 59"/>
          <p:cNvSpPr txBox="1"/>
          <p:nvPr/>
        </p:nvSpPr>
        <p:spPr>
          <a:xfrm>
            <a:off x="3678882" y="1993999"/>
            <a:ext cx="32396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12" kern="0" dirty="0">
                <a:solidFill>
                  <a:srgbClr val="1E8C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可能性</a:t>
            </a:r>
            <a:endParaRPr lang="en-US" sz="700" dirty="0"/>
          </a:p>
        </p:txBody>
      </p:sp>
      <p:sp>
        <p:nvSpPr>
          <p:cNvPr id="65" name="Text 60"/>
          <p:cNvSpPr txBox="1"/>
          <p:nvPr/>
        </p:nvSpPr>
        <p:spPr>
          <a:xfrm>
            <a:off x="3678882" y="2146548"/>
            <a:ext cx="323969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41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土台も、需要も、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b="1" spc="41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すでにある。</a:t>
            </a:r>
            <a:endParaRPr lang="en-US" sz="1350" dirty="0"/>
          </a:p>
        </p:txBody>
      </p:sp>
      <p:sp>
        <p:nvSpPr>
          <p:cNvPr id="66" name="Text 61"/>
          <p:cNvSpPr txBox="1"/>
          <p:nvPr/>
        </p:nvSpPr>
        <p:spPr>
          <a:xfrm>
            <a:off x="4650730" y="2808536"/>
            <a:ext cx="2267843" cy="147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水辺に賑わいを生んだ記憶</a:t>
            </a:r>
            <a:endParaRPr lang="en-US" sz="830" dirty="0"/>
          </a:p>
        </p:txBody>
      </p:sp>
      <p:sp>
        <p:nvSpPr>
          <p:cNvPr id="67" name="Text 62"/>
          <p:cNvSpPr txBox="1"/>
          <p:nvPr/>
        </p:nvSpPr>
        <p:spPr>
          <a:xfrm>
            <a:off x="4650730" y="2973884"/>
            <a:ext cx="2267843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黒田藩の時代、那珂川の水辺には芝居や相撲が呼び込まれ、福岡と博多をつなぐ賑わいが生まれた</a:t>
            </a:r>
            <a:endParaRPr lang="en-US" sz="710" dirty="0"/>
          </a:p>
        </p:txBody>
      </p:sp>
      <p:sp>
        <p:nvSpPr>
          <p:cNvPr id="68" name="Text 63"/>
          <p:cNvSpPr txBox="1"/>
          <p:nvPr/>
        </p:nvSpPr>
        <p:spPr>
          <a:xfrm>
            <a:off x="4650730" y="3588395"/>
            <a:ext cx="2267843" cy="147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川に開かれたまちへ、整備が完了</a:t>
            </a:r>
            <a:endParaRPr lang="en-US" sz="830" dirty="0"/>
          </a:p>
        </p:txBody>
      </p:sp>
      <p:sp>
        <p:nvSpPr>
          <p:cNvPr id="69" name="Text 64"/>
          <p:cNvSpPr txBox="1"/>
          <p:nvPr/>
        </p:nvSpPr>
        <p:spPr>
          <a:xfrm>
            <a:off x="4650730" y="3753743"/>
            <a:ext cx="2267843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リバーフロントNEXTのもと、清流公園が再整備され、護岸・橋梁のライトアップも完成する</a:t>
            </a:r>
            <a:endParaRPr lang="en-US" sz="710" dirty="0"/>
          </a:p>
        </p:txBody>
      </p:sp>
      <p:sp>
        <p:nvSpPr>
          <p:cNvPr id="70" name="Text 65"/>
          <p:cNvSpPr txBox="1"/>
          <p:nvPr/>
        </p:nvSpPr>
        <p:spPr>
          <a:xfrm>
            <a:off x="4650730" y="4368254"/>
            <a:ext cx="2267843" cy="147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夜の文化体験には、人が動く</a:t>
            </a:r>
            <a:endParaRPr lang="en-US" sz="830" dirty="0"/>
          </a:p>
        </p:txBody>
      </p:sp>
      <p:sp>
        <p:nvSpPr>
          <p:cNvPr id="71" name="Text 66"/>
          <p:cNvSpPr txBox="1"/>
          <p:nvPr/>
        </p:nvSpPr>
        <p:spPr>
          <a:xfrm>
            <a:off x="4650730" y="4533602"/>
            <a:ext cx="2267843" cy="47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福岡城跡の夜のアート展示は、会期2か月弱で</a:t>
            </a:r>
            <a:pPr algn="l" indent="0" marL="0">
              <a:lnSpc>
                <a:spcPct val="155000"/>
              </a:lnSpc>
              <a:buNone/>
            </a:pPr>
            <a:r>
              <a:rPr lang="en-US" sz="860" b="1" dirty="0">
                <a:solidFill>
                  <a:srgbClr val="16181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10万人</a:t>
            </a:r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が来場。海外では湖上ステージが街の象徴に（ブレゲンツ音楽祭：約7,000席、5週間で</a:t>
            </a:r>
            <a:pPr algn="l" indent="0" marL="0">
              <a:lnSpc>
                <a:spcPct val="155000"/>
              </a:lnSpc>
              <a:buNone/>
            </a:pPr>
            <a:r>
              <a:rPr lang="en-US" sz="860" b="1" dirty="0">
                <a:solidFill>
                  <a:srgbClr val="16181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27万人</a:t>
            </a:r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）</a:t>
            </a:r>
            <a:endParaRPr lang="en-US" sz="710" dirty="0"/>
          </a:p>
        </p:txBody>
      </p:sp>
      <p:sp>
        <p:nvSpPr>
          <p:cNvPr id="72" name="Text 67"/>
          <p:cNvSpPr txBox="1"/>
          <p:nvPr/>
        </p:nvSpPr>
        <p:spPr>
          <a:xfrm>
            <a:off x="3794075" y="5760244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那珂川には、夜の舞台になる条件がそろっている</a:t>
            </a:r>
            <a:endParaRPr lang="en-US" sz="860" dirty="0"/>
          </a:p>
        </p:txBody>
      </p:sp>
      <p:sp>
        <p:nvSpPr>
          <p:cNvPr id="73" name="Text 68"/>
          <p:cNvSpPr txBox="1"/>
          <p:nvPr/>
        </p:nvSpPr>
        <p:spPr>
          <a:xfrm>
            <a:off x="3794075" y="5945684"/>
            <a:ext cx="30093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歴史・整備・需要の3つを、ひとつの体験につなげる</a:t>
            </a:r>
            <a:endParaRPr lang="en-US" sz="700" dirty="0"/>
          </a:p>
        </p:txBody>
      </p:sp>
      <p:sp>
        <p:nvSpPr>
          <p:cNvPr id="74" name="Text 69"/>
          <p:cNvSpPr txBox="1"/>
          <p:nvPr/>
        </p:nvSpPr>
        <p:spPr>
          <a:xfrm>
            <a:off x="7239298" y="2008436"/>
            <a:ext cx="29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12" kern="0" dirty="0">
                <a:solidFill>
                  <a:srgbClr val="7FD3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コンセプト</a:t>
            </a:r>
            <a:endParaRPr lang="en-US" sz="700" dirty="0"/>
          </a:p>
        </p:txBody>
      </p:sp>
      <p:sp>
        <p:nvSpPr>
          <p:cNvPr id="75" name="Text 70"/>
          <p:cNvSpPr txBox="1"/>
          <p:nvPr/>
        </p:nvSpPr>
        <p:spPr>
          <a:xfrm>
            <a:off x="7239298" y="2160984"/>
            <a:ext cx="291584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41" kern="0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土台に「舞台」を加え、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b="1" spc="41" kern="0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文化景観を育てる。</a:t>
            </a:r>
            <a:endParaRPr lang="en-US" sz="1350" dirty="0"/>
          </a:p>
        </p:txBody>
      </p:sp>
      <p:sp>
        <p:nvSpPr>
          <p:cNvPr id="76" name="Text 71"/>
          <p:cNvSpPr txBox="1"/>
          <p:nvPr/>
        </p:nvSpPr>
        <p:spPr>
          <a:xfrm>
            <a:off x="7356723" y="3197870"/>
            <a:ext cx="1501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B9BEC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水面、架かる橋、水面に映る街の灯り</a:t>
            </a:r>
            <a:endParaRPr lang="en-US" sz="700" dirty="0"/>
          </a:p>
        </p:txBody>
      </p:sp>
      <p:sp>
        <p:nvSpPr>
          <p:cNvPr id="77" name="Text 72"/>
          <p:cNvSpPr txBox="1"/>
          <p:nvPr/>
        </p:nvSpPr>
        <p:spPr>
          <a:xfrm>
            <a:off x="7356723" y="2826395"/>
            <a:ext cx="26809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b="1" spc="90" kern="0" dirty="0">
                <a:solidFill>
                  <a:srgbClr val="7FD3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那珂川にすでにある土台</a:t>
            </a:r>
            <a:endParaRPr lang="en-US" sz="640" dirty="0"/>
          </a:p>
        </p:txBody>
      </p:sp>
      <p:sp>
        <p:nvSpPr>
          <p:cNvPr id="78" name="Text 73"/>
          <p:cNvSpPr txBox="1"/>
          <p:nvPr/>
        </p:nvSpPr>
        <p:spPr>
          <a:xfrm>
            <a:off x="7356723" y="2940695"/>
            <a:ext cx="2680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自然都市景観</a:t>
            </a:r>
            <a:endParaRPr lang="en-US" sz="960" dirty="0"/>
          </a:p>
        </p:txBody>
      </p:sp>
      <p:sp>
        <p:nvSpPr>
          <p:cNvPr id="79" name="Text 74"/>
          <p:cNvSpPr txBox="1"/>
          <p:nvPr/>
        </p:nvSpPr>
        <p:spPr>
          <a:xfrm>
            <a:off x="7239298" y="3474839"/>
            <a:ext cx="28586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D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×</a:t>
            </a:r>
            <a:endParaRPr lang="en-US" sz="1500" dirty="0"/>
          </a:p>
        </p:txBody>
      </p:sp>
      <p:sp>
        <p:nvSpPr>
          <p:cNvPr id="80" name="Text 75"/>
          <p:cNvSpPr txBox="1"/>
          <p:nvPr/>
        </p:nvSpPr>
        <p:spPr>
          <a:xfrm>
            <a:off x="7356723" y="4161383"/>
            <a:ext cx="20288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B9BEC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川の上のステージ、音楽、パフォーマンス＝遊び心</a:t>
            </a:r>
            <a:endParaRPr lang="en-US" sz="700" dirty="0"/>
          </a:p>
        </p:txBody>
      </p:sp>
      <p:sp>
        <p:nvSpPr>
          <p:cNvPr id="81" name="Text 76"/>
          <p:cNvSpPr txBox="1"/>
          <p:nvPr/>
        </p:nvSpPr>
        <p:spPr>
          <a:xfrm>
            <a:off x="7356723" y="3789908"/>
            <a:ext cx="26809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b="1" spc="90" kern="0" dirty="0">
                <a:solidFill>
                  <a:srgbClr val="7FD3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本事業が加えるもの</a:t>
            </a:r>
            <a:endParaRPr lang="en-US" sz="640" dirty="0"/>
          </a:p>
        </p:txBody>
      </p:sp>
      <p:sp>
        <p:nvSpPr>
          <p:cNvPr id="82" name="Text 77"/>
          <p:cNvSpPr txBox="1"/>
          <p:nvPr/>
        </p:nvSpPr>
        <p:spPr>
          <a:xfrm>
            <a:off x="7356723" y="3904208"/>
            <a:ext cx="2680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作り手が集う舞台・文化</a:t>
            </a:r>
            <a:endParaRPr lang="en-US" sz="960" dirty="0"/>
          </a:p>
        </p:txBody>
      </p:sp>
      <p:sp>
        <p:nvSpPr>
          <p:cNvPr id="83" name="Text 78"/>
          <p:cNvSpPr txBox="1"/>
          <p:nvPr/>
        </p:nvSpPr>
        <p:spPr>
          <a:xfrm>
            <a:off x="7239298" y="4438352"/>
            <a:ext cx="28586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D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＝</a:t>
            </a:r>
            <a:endParaRPr lang="en-US" sz="1500" dirty="0"/>
          </a:p>
        </p:txBody>
      </p:sp>
      <p:sp>
        <p:nvSpPr>
          <p:cNvPr id="84" name="Text 79"/>
          <p:cNvSpPr txBox="1"/>
          <p:nvPr/>
        </p:nvSpPr>
        <p:spPr>
          <a:xfrm>
            <a:off x="7356723" y="5182046"/>
            <a:ext cx="2200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人が集い、遊び、撮り、語り継ぐ、福岡を象徴する景色</a:t>
            </a:r>
            <a:endParaRPr lang="en-US" sz="700" dirty="0"/>
          </a:p>
        </p:txBody>
      </p:sp>
      <p:sp>
        <p:nvSpPr>
          <p:cNvPr id="85" name="Text 80"/>
          <p:cNvSpPr txBox="1"/>
          <p:nvPr/>
        </p:nvSpPr>
        <p:spPr>
          <a:xfrm>
            <a:off x="7356723" y="4753421"/>
            <a:ext cx="26809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b="1" spc="90" kern="0" dirty="0">
                <a:solidFill>
                  <a:srgbClr val="1E8C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目指す姿</a:t>
            </a:r>
            <a:endParaRPr lang="en-US" sz="640" dirty="0"/>
          </a:p>
        </p:txBody>
      </p:sp>
      <p:sp>
        <p:nvSpPr>
          <p:cNvPr id="86" name="Text 81"/>
          <p:cNvSpPr txBox="1"/>
          <p:nvPr/>
        </p:nvSpPr>
        <p:spPr>
          <a:xfrm>
            <a:off x="7356723" y="4867721"/>
            <a:ext cx="26809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文化景観</a:t>
            </a:r>
            <a:endParaRPr lang="en-US" sz="1300" dirty="0"/>
          </a:p>
        </p:txBody>
      </p:sp>
      <p:sp>
        <p:nvSpPr>
          <p:cNvPr id="87" name="Text 82"/>
          <p:cNvSpPr txBox="1"/>
          <p:nvPr/>
        </p:nvSpPr>
        <p:spPr>
          <a:xfrm>
            <a:off x="7434560" y="5784800"/>
            <a:ext cx="529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夜まで留まる</a:t>
            </a:r>
            <a:endParaRPr lang="en-US" sz="700" dirty="0"/>
          </a:p>
        </p:txBody>
      </p:sp>
      <p:sp>
        <p:nvSpPr>
          <p:cNvPr id="88" name="Text 83"/>
          <p:cNvSpPr txBox="1"/>
          <p:nvPr/>
        </p:nvSpPr>
        <p:spPr>
          <a:xfrm>
            <a:off x="7239298" y="5641479"/>
            <a:ext cx="904875" cy="1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滞在</a:t>
            </a:r>
            <a:endParaRPr lang="en-US" sz="860" dirty="0"/>
          </a:p>
        </p:txBody>
      </p:sp>
      <p:sp>
        <p:nvSpPr>
          <p:cNvPr id="89" name="Text 84"/>
          <p:cNvSpPr txBox="1"/>
          <p:nvPr/>
        </p:nvSpPr>
        <p:spPr>
          <a:xfrm>
            <a:off x="8282732" y="5784800"/>
            <a:ext cx="794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体験にお金が落ちる</a:t>
            </a:r>
            <a:endParaRPr lang="en-US" sz="700" dirty="0"/>
          </a:p>
        </p:txBody>
      </p:sp>
      <p:sp>
        <p:nvSpPr>
          <p:cNvPr id="90" name="Text 85"/>
          <p:cNvSpPr txBox="1"/>
          <p:nvPr/>
        </p:nvSpPr>
        <p:spPr>
          <a:xfrm>
            <a:off x="8216057" y="5641479"/>
            <a:ext cx="905024" cy="1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消費</a:t>
            </a:r>
            <a:endParaRPr lang="en-US" sz="860" dirty="0"/>
          </a:p>
        </p:txBody>
      </p:sp>
      <p:sp>
        <p:nvSpPr>
          <p:cNvPr id="91" name="Text 86"/>
          <p:cNvSpPr txBox="1"/>
          <p:nvPr/>
        </p:nvSpPr>
        <p:spPr>
          <a:xfrm>
            <a:off x="9388227" y="5784800"/>
            <a:ext cx="529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面白いことが</a:t>
            </a:r>
            <a:endParaRPr lang="en-US" sz="700" dirty="0"/>
          </a:p>
        </p:txBody>
      </p:sp>
      <p:sp>
        <p:nvSpPr>
          <p:cNvPr id="92" name="Text 87"/>
          <p:cNvSpPr txBox="1"/>
          <p:nvPr/>
        </p:nvSpPr>
        <p:spPr>
          <a:xfrm>
            <a:off x="9431089" y="5909072"/>
            <a:ext cx="44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生まれる川</a:t>
            </a:r>
            <a:endParaRPr lang="en-US" sz="700" dirty="0"/>
          </a:p>
        </p:txBody>
      </p:sp>
      <p:sp>
        <p:nvSpPr>
          <p:cNvPr id="93" name="Text 88"/>
          <p:cNvSpPr txBox="1"/>
          <p:nvPr/>
        </p:nvSpPr>
        <p:spPr>
          <a:xfrm>
            <a:off x="9192964" y="5641479"/>
            <a:ext cx="904875" cy="1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ブランド</a:t>
            </a:r>
            <a:endParaRPr lang="en-US" sz="860" dirty="0"/>
          </a:p>
        </p:txBody>
      </p:sp>
      <p:sp>
        <p:nvSpPr>
          <p:cNvPr id="94" name="Text 89"/>
          <p:cNvSpPr txBox="1"/>
          <p:nvPr/>
        </p:nvSpPr>
        <p:spPr>
          <a:xfrm>
            <a:off x="431899" y="6514654"/>
            <a:ext cx="426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40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設計の要</a:t>
            </a:r>
            <a:endParaRPr lang="en-US" sz="700" dirty="0"/>
          </a:p>
        </p:txBody>
      </p:sp>
      <p:sp>
        <p:nvSpPr>
          <p:cNvPr id="95" name="Text 90"/>
          <p:cNvSpPr txBox="1"/>
          <p:nvPr/>
        </p:nvSpPr>
        <p:spPr>
          <a:xfrm>
            <a:off x="1025872" y="6412111"/>
            <a:ext cx="6942981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0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景観の演出だけでは、まず見てもらえない。人を呼ぶ力だけでは、景観が残らない。</a:t>
            </a:r>
            <a:pPr algn="l" indent="0" marL="0">
              <a:lnSpc>
                <a:spcPct val="155000"/>
              </a:lnSpc>
              <a:buNone/>
            </a:pPr>
            <a:r>
              <a:rPr lang="en-US" sz="860" b="1" dirty="0">
                <a:solidFill>
                  <a:srgbClr val="16181C"/>
                </a:solidFill>
                <a:highlight>
                  <a:srgbClr val="CDEBE6"/>
                </a:highlight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川の上の舞台に、人を呼ぶアーティストを迎え、景観と集客を同時に成立させる。</a:t>
            </a:r>
            <a:endParaRPr lang="en-US" sz="860" dirty="0"/>
          </a:p>
        </p:txBody>
      </p:sp>
      <p:sp>
        <p:nvSpPr>
          <p:cNvPr id="96" name="Text 91"/>
          <p:cNvSpPr txBox="1"/>
          <p:nvPr/>
        </p:nvSpPr>
        <p:spPr>
          <a:xfrm>
            <a:off x="8199636" y="6505225"/>
            <a:ext cx="2009575" cy="15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4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次ページ：水上ステージとヘッドライナー →</a:t>
            </a:r>
            <a:endParaRPr lang="en-US" sz="740" dirty="0"/>
          </a:p>
        </p:txBody>
      </p:sp>
      <p:sp>
        <p:nvSpPr>
          <p:cNvPr id="97" name="Text 92"/>
          <p:cNvSpPr txBox="1"/>
          <p:nvPr/>
        </p:nvSpPr>
        <p:spPr>
          <a:xfrm>
            <a:off x="431899" y="7004298"/>
            <a:ext cx="549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spc="212" kern="0" dirty="0">
                <a:solidFill>
                  <a:srgbClr val="16181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VISION</a:t>
            </a:r>
            <a:endParaRPr lang="en-US" sz="850" dirty="0"/>
          </a:p>
        </p:txBody>
      </p:sp>
      <p:sp>
        <p:nvSpPr>
          <p:cNvPr id="98" name="Text 93"/>
          <p:cNvSpPr txBox="1"/>
          <p:nvPr/>
        </p:nvSpPr>
        <p:spPr>
          <a:xfrm>
            <a:off x="1145232" y="6956673"/>
            <a:ext cx="68502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b="1" spc="42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今回のイベントを起点として、川と共に文化が育ち、福岡ならではの景観が生まれ、世界へ波及していくこと</a:t>
            </a:r>
            <a:endParaRPr lang="en-US" sz="1040" dirty="0"/>
          </a:p>
        </p:txBody>
      </p:sp>
      <p:sp>
        <p:nvSpPr>
          <p:cNvPr id="99" name="Text 94"/>
          <p:cNvSpPr txBox="1"/>
          <p:nvPr/>
        </p:nvSpPr>
        <p:spPr>
          <a:xfrm>
            <a:off x="431899" y="7197477"/>
            <a:ext cx="9885313" cy="11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出典：入込観光客数・外国人入国者数＝福岡市「福岡市の観光・MICE」2026年版／娯楽等サービス費の構成比＝観光庁「インバウンド消費動向調査」2025年年次報告／福岡城跡の来場者＝チームラボ発表（2018年1月）／ブレゲンツ音楽祭＝同音楽祭の公表値（2018年）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slide_v3step</dc:title>
  <dc:subject>PptxGenJS Presentation</dc:subject>
  <dc:creator>PptxGenJS</dc:creator>
  <cp:lastModifiedBy>PptxGenJS</cp:lastModifiedBy>
  <cp:revision>1</cp:revision>
  <dcterms:created xsi:type="dcterms:W3CDTF">2026-10-22T08:58:29Z</dcterms:created>
  <dcterms:modified xsi:type="dcterms:W3CDTF">2026-10-22T08:58:29Z</dcterms:modified>
</cp:coreProperties>
</file>